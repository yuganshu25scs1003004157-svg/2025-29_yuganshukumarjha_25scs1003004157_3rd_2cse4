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326563" cy="5578475"/>
  <p:notesSz cx="6858000" cy="9144000"/>
  <p:defaultTextStyle>
    <a:defPPr>
      <a:defRPr lang="en-US"/>
    </a:defPPr>
    <a:lvl1pPr marL="0" algn="l" defTabSz="94933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74665" algn="l" defTabSz="94933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49330" algn="l" defTabSz="94933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423995" algn="l" defTabSz="94933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98660" algn="l" defTabSz="94933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373325" algn="l" defTabSz="94933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847990" algn="l" defTabSz="94933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322655" algn="l" defTabSz="94933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797320" algn="l" defTabSz="94933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1181" y="-542"/>
      </p:cViewPr>
      <p:guideLst>
        <p:guide orient="horz" pos="1758"/>
        <p:guide pos="29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1DB2A5-2392-4965-A850-98336F6C1850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61975" y="685800"/>
            <a:ext cx="57340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4D7CA2-9242-4A45-8DA9-BC8722530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790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493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74665" algn="l" defTabSz="9493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49330" algn="l" defTabSz="9493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423995" algn="l" defTabSz="9493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98660" algn="l" defTabSz="9493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373325" algn="l" defTabSz="9493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847990" algn="l" defTabSz="9493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322655" algn="l" defTabSz="9493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97320" algn="l" defTabSz="94933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61975" y="685800"/>
            <a:ext cx="57340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4D7CA2-9242-4A45-8DA9-BC872253098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310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9492" y="1732945"/>
            <a:ext cx="7927579" cy="119575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8985" y="3161136"/>
            <a:ext cx="6528594" cy="142561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746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493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23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98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73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479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226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797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8CA9-FDAC-4470-9D3A-6DE84511970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8F72-8F05-439D-BA6B-E2673D381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708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8CA9-FDAC-4470-9D3A-6DE84511970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8F72-8F05-439D-BA6B-E2673D381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924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734" y="3584688"/>
            <a:ext cx="7927579" cy="1107947"/>
          </a:xfrm>
        </p:spPr>
        <p:txBody>
          <a:bodyPr anchor="t"/>
          <a:lstStyle>
            <a:lvl1pPr algn="l">
              <a:defRPr sz="42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734" y="2364399"/>
            <a:ext cx="7927579" cy="1220291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474665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4933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2399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89866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37332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84799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32265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79732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8CA9-FDAC-4470-9D3A-6DE84511970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8F72-8F05-439D-BA6B-E2673D381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722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9747" y="1735528"/>
            <a:ext cx="3069994" cy="4908285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75183" y="1735528"/>
            <a:ext cx="3069994" cy="4908285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8CA9-FDAC-4470-9D3A-6DE84511970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8F72-8F05-439D-BA6B-E2673D381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241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28" y="223400"/>
            <a:ext cx="8393907" cy="929746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6329" y="1248701"/>
            <a:ext cx="4120852" cy="520399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74665" indent="0">
              <a:buNone/>
              <a:defRPr sz="2100" b="1"/>
            </a:lvl2pPr>
            <a:lvl3pPr marL="949330" indent="0">
              <a:buNone/>
              <a:defRPr sz="1900" b="1"/>
            </a:lvl3pPr>
            <a:lvl4pPr marL="1423995" indent="0">
              <a:buNone/>
              <a:defRPr sz="1700" b="1"/>
            </a:lvl4pPr>
            <a:lvl5pPr marL="1898660" indent="0">
              <a:buNone/>
              <a:defRPr sz="1700" b="1"/>
            </a:lvl5pPr>
            <a:lvl6pPr marL="2373325" indent="0">
              <a:buNone/>
              <a:defRPr sz="1700" b="1"/>
            </a:lvl6pPr>
            <a:lvl7pPr marL="2847990" indent="0">
              <a:buNone/>
              <a:defRPr sz="1700" b="1"/>
            </a:lvl7pPr>
            <a:lvl8pPr marL="3322655" indent="0">
              <a:buNone/>
              <a:defRPr sz="1700" b="1"/>
            </a:lvl8pPr>
            <a:lvl9pPr marL="3797320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9" y="1769099"/>
            <a:ext cx="4120852" cy="3214080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7771" y="1248701"/>
            <a:ext cx="4122470" cy="520399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74665" indent="0">
              <a:buNone/>
              <a:defRPr sz="2100" b="1"/>
            </a:lvl2pPr>
            <a:lvl3pPr marL="949330" indent="0">
              <a:buNone/>
              <a:defRPr sz="1900" b="1"/>
            </a:lvl3pPr>
            <a:lvl4pPr marL="1423995" indent="0">
              <a:buNone/>
              <a:defRPr sz="1700" b="1"/>
            </a:lvl4pPr>
            <a:lvl5pPr marL="1898660" indent="0">
              <a:buNone/>
              <a:defRPr sz="1700" b="1"/>
            </a:lvl5pPr>
            <a:lvl6pPr marL="2373325" indent="0">
              <a:buNone/>
              <a:defRPr sz="1700" b="1"/>
            </a:lvl6pPr>
            <a:lvl7pPr marL="2847990" indent="0">
              <a:buNone/>
              <a:defRPr sz="1700" b="1"/>
            </a:lvl7pPr>
            <a:lvl8pPr marL="3322655" indent="0">
              <a:buNone/>
              <a:defRPr sz="1700" b="1"/>
            </a:lvl8pPr>
            <a:lvl9pPr marL="3797320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7771" y="1769099"/>
            <a:ext cx="4122470" cy="3214080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8CA9-FDAC-4470-9D3A-6DE84511970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8F72-8F05-439D-BA6B-E2673D381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001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8CA9-FDAC-4470-9D3A-6DE84511970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8F72-8F05-439D-BA6B-E2673D381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72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8CA9-FDAC-4470-9D3A-6DE84511970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8F72-8F05-439D-BA6B-E2673D381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800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35" y="222107"/>
            <a:ext cx="3068375" cy="945241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6433" y="222107"/>
            <a:ext cx="5213809" cy="4761075"/>
          </a:xfrm>
        </p:spPr>
        <p:txBody>
          <a:bodyPr/>
          <a:lstStyle>
            <a:lvl1pPr>
              <a:defRPr sz="3300"/>
            </a:lvl1pPr>
            <a:lvl2pPr>
              <a:defRPr sz="2900"/>
            </a:lvl2pPr>
            <a:lvl3pPr>
              <a:defRPr sz="25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6335" y="1167350"/>
            <a:ext cx="3068375" cy="3815832"/>
          </a:xfrm>
        </p:spPr>
        <p:txBody>
          <a:bodyPr/>
          <a:lstStyle>
            <a:lvl1pPr marL="0" indent="0">
              <a:buNone/>
              <a:defRPr sz="1500"/>
            </a:lvl1pPr>
            <a:lvl2pPr marL="474665" indent="0">
              <a:buNone/>
              <a:defRPr sz="1200"/>
            </a:lvl2pPr>
            <a:lvl3pPr marL="949330" indent="0">
              <a:buNone/>
              <a:defRPr sz="1000"/>
            </a:lvl3pPr>
            <a:lvl4pPr marL="1423995" indent="0">
              <a:buNone/>
              <a:defRPr sz="900"/>
            </a:lvl4pPr>
            <a:lvl5pPr marL="1898660" indent="0">
              <a:buNone/>
              <a:defRPr sz="900"/>
            </a:lvl5pPr>
            <a:lvl6pPr marL="2373325" indent="0">
              <a:buNone/>
              <a:defRPr sz="900"/>
            </a:lvl6pPr>
            <a:lvl7pPr marL="2847990" indent="0">
              <a:buNone/>
              <a:defRPr sz="900"/>
            </a:lvl7pPr>
            <a:lvl8pPr marL="3322655" indent="0">
              <a:buNone/>
              <a:defRPr sz="900"/>
            </a:lvl8pPr>
            <a:lvl9pPr marL="379732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8CA9-FDAC-4470-9D3A-6DE84511970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8F72-8F05-439D-BA6B-E2673D381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811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072" y="3904935"/>
            <a:ext cx="5595938" cy="460999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072" y="498448"/>
            <a:ext cx="5595938" cy="3347085"/>
          </a:xfrm>
        </p:spPr>
        <p:txBody>
          <a:bodyPr/>
          <a:lstStyle>
            <a:lvl1pPr marL="0" indent="0">
              <a:buNone/>
              <a:defRPr sz="3300"/>
            </a:lvl1pPr>
            <a:lvl2pPr marL="474665" indent="0">
              <a:buNone/>
              <a:defRPr sz="2900"/>
            </a:lvl2pPr>
            <a:lvl3pPr marL="949330" indent="0">
              <a:buNone/>
              <a:defRPr sz="2500"/>
            </a:lvl3pPr>
            <a:lvl4pPr marL="1423995" indent="0">
              <a:buNone/>
              <a:defRPr sz="2100"/>
            </a:lvl4pPr>
            <a:lvl5pPr marL="1898660" indent="0">
              <a:buNone/>
              <a:defRPr sz="2100"/>
            </a:lvl5pPr>
            <a:lvl6pPr marL="2373325" indent="0">
              <a:buNone/>
              <a:defRPr sz="2100"/>
            </a:lvl6pPr>
            <a:lvl7pPr marL="2847990" indent="0">
              <a:buNone/>
              <a:defRPr sz="2100"/>
            </a:lvl7pPr>
            <a:lvl8pPr marL="3322655" indent="0">
              <a:buNone/>
              <a:defRPr sz="2100"/>
            </a:lvl8pPr>
            <a:lvl9pPr marL="3797320" indent="0">
              <a:buNone/>
              <a:defRPr sz="21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072" y="4365933"/>
            <a:ext cx="5595938" cy="654696"/>
          </a:xfrm>
        </p:spPr>
        <p:txBody>
          <a:bodyPr/>
          <a:lstStyle>
            <a:lvl1pPr marL="0" indent="0">
              <a:buNone/>
              <a:defRPr sz="1500"/>
            </a:lvl1pPr>
            <a:lvl2pPr marL="474665" indent="0">
              <a:buNone/>
              <a:defRPr sz="1200"/>
            </a:lvl2pPr>
            <a:lvl3pPr marL="949330" indent="0">
              <a:buNone/>
              <a:defRPr sz="1000"/>
            </a:lvl3pPr>
            <a:lvl4pPr marL="1423995" indent="0">
              <a:buNone/>
              <a:defRPr sz="900"/>
            </a:lvl4pPr>
            <a:lvl5pPr marL="1898660" indent="0">
              <a:buNone/>
              <a:defRPr sz="900"/>
            </a:lvl5pPr>
            <a:lvl6pPr marL="2373325" indent="0">
              <a:buNone/>
              <a:defRPr sz="900"/>
            </a:lvl6pPr>
            <a:lvl7pPr marL="2847990" indent="0">
              <a:buNone/>
              <a:defRPr sz="900"/>
            </a:lvl7pPr>
            <a:lvl8pPr marL="3322655" indent="0">
              <a:buNone/>
              <a:defRPr sz="900"/>
            </a:lvl8pPr>
            <a:lvl9pPr marL="379732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8CA9-FDAC-4470-9D3A-6DE84511970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8F72-8F05-439D-BA6B-E2673D381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132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8CA9-FDAC-4470-9D3A-6DE84511970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8F72-8F05-439D-BA6B-E2673D381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482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71323" y="298295"/>
            <a:ext cx="1573859" cy="634551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9753" y="298295"/>
            <a:ext cx="4566131" cy="634551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8CA9-FDAC-4470-9D3A-6DE84511970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A8F72-8F05-439D-BA6B-E2673D381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530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6328" y="223400"/>
            <a:ext cx="8393907" cy="929746"/>
          </a:xfrm>
          <a:prstGeom prst="rect">
            <a:avLst/>
          </a:prstGeom>
        </p:spPr>
        <p:txBody>
          <a:bodyPr vert="horz" lIns="94933" tIns="47467" rIns="94933" bIns="47467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6328" y="1301648"/>
            <a:ext cx="8393907" cy="3681536"/>
          </a:xfrm>
          <a:prstGeom prst="rect">
            <a:avLst/>
          </a:prstGeom>
        </p:spPr>
        <p:txBody>
          <a:bodyPr vert="horz" lIns="94933" tIns="47467" rIns="94933" bIns="47467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66328" y="5170421"/>
            <a:ext cx="2176198" cy="297002"/>
          </a:xfrm>
          <a:prstGeom prst="rect">
            <a:avLst/>
          </a:prstGeom>
        </p:spPr>
        <p:txBody>
          <a:bodyPr vert="horz" lIns="94933" tIns="47467" rIns="94933" bIns="4746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FF8CA9-FDAC-4470-9D3A-6DE84511970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6576" y="5170421"/>
            <a:ext cx="2953412" cy="297002"/>
          </a:xfrm>
          <a:prstGeom prst="rect">
            <a:avLst/>
          </a:prstGeom>
        </p:spPr>
        <p:txBody>
          <a:bodyPr vert="horz" lIns="94933" tIns="47467" rIns="94933" bIns="4746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84037" y="5170421"/>
            <a:ext cx="2176198" cy="297002"/>
          </a:xfrm>
          <a:prstGeom prst="rect">
            <a:avLst/>
          </a:prstGeom>
        </p:spPr>
        <p:txBody>
          <a:bodyPr vert="horz" lIns="94933" tIns="47467" rIns="94933" bIns="4746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2A8F72-8F05-439D-BA6B-E2673D3814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669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49330" rtl="0" eaLnBrk="1" latinLnBrk="0" hangingPunct="1"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5999" indent="-355999" algn="l" defTabSz="949330" rtl="0" eaLnBrk="1" latinLnBrk="0" hangingPunct="1">
        <a:spcBef>
          <a:spcPct val="20000"/>
        </a:spcBef>
        <a:buFont typeface="Arial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1pPr>
      <a:lvl2pPr marL="771331" indent="-296666" algn="l" defTabSz="949330" rtl="0" eaLnBrk="1" latinLnBrk="0" hangingPunct="1">
        <a:spcBef>
          <a:spcPct val="20000"/>
        </a:spcBef>
        <a:buFont typeface="Arial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186663" indent="-237333" algn="l" defTabSz="949330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61328" indent="-237333" algn="l" defTabSz="94933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5993" indent="-237333" algn="l" defTabSz="949330" rtl="0" eaLnBrk="1" latinLnBrk="0" hangingPunct="1">
        <a:spcBef>
          <a:spcPct val="20000"/>
        </a:spcBef>
        <a:buFont typeface="Arial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10658" indent="-237333" algn="l" defTabSz="949330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085323" indent="-237333" algn="l" defTabSz="949330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988" indent="-237333" algn="l" defTabSz="949330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34653" indent="-237333" algn="l" defTabSz="949330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493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4665" algn="l" defTabSz="9493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49330" algn="l" defTabSz="9493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23995" algn="l" defTabSz="9493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98660" algn="l" defTabSz="9493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73325" algn="l" defTabSz="9493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47990" algn="l" defTabSz="9493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22655" algn="l" defTabSz="9493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797320" algn="l" defTabSz="94933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037"/>
            <a:ext cx="9326563" cy="525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471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7306" y="97704"/>
            <a:ext cx="4159647" cy="395319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r>
              <a:rPr lang="en-US" b="1" i="0" u="none" dirty="0" smtClean="0">
                <a:solidFill>
                  <a:srgbClr val="0F172A"/>
                </a:solidFill>
                <a:latin typeface="Poppins"/>
              </a:rPr>
              <a:t>Candidate &amp; Program Overview</a:t>
            </a:r>
            <a:endParaRPr lang="en-US" b="1" i="0" u="none" dirty="0">
              <a:solidFill>
                <a:srgbClr val="0F172A"/>
              </a:solidFill>
              <a:latin typeface="Poppins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37306" y="423950"/>
            <a:ext cx="9289257" cy="690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60" y="1422937"/>
            <a:ext cx="4119232" cy="213436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64" y="1484251"/>
            <a:ext cx="272025" cy="22429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2496" y="1409547"/>
            <a:ext cx="2410917" cy="362375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r>
              <a:rPr lang="en-US" sz="1700" b="1" dirty="0">
                <a:solidFill>
                  <a:srgbClr val="1E3A8A"/>
                </a:solidFill>
                <a:latin typeface="Poppins"/>
              </a:rPr>
              <a:t>Candidate Details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8443" y="1771924"/>
            <a:ext cx="3416739" cy="359630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pPr>
              <a:lnSpc>
                <a:spcPts val="1985"/>
              </a:lnSpc>
            </a:pPr>
            <a:r>
              <a:rPr lang="en-US" sz="1200" b="1" dirty="0">
                <a:solidFill>
                  <a:srgbClr val="475569"/>
                </a:solidFill>
                <a:latin typeface="Inter"/>
              </a:rPr>
              <a:t>Student Name:</a:t>
            </a:r>
            <a:r>
              <a:rPr lang="en-US" sz="1200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200" dirty="0" err="1" smtClean="0">
                <a:solidFill>
                  <a:srgbClr val="475569"/>
                </a:solidFill>
                <a:latin typeface="Inter"/>
              </a:rPr>
              <a:t>Yuganshu</a:t>
            </a:r>
            <a:r>
              <a:rPr lang="en-US" sz="1200" dirty="0" smtClean="0">
                <a:solidFill>
                  <a:srgbClr val="475569"/>
                </a:solidFill>
                <a:latin typeface="Inter"/>
              </a:rPr>
              <a:t> Kumar </a:t>
            </a:r>
            <a:r>
              <a:rPr lang="en-US" sz="1200" dirty="0" err="1" smtClean="0">
                <a:solidFill>
                  <a:srgbClr val="475569"/>
                </a:solidFill>
                <a:latin typeface="Inter"/>
              </a:rPr>
              <a:t>Jha</a:t>
            </a:r>
            <a:endParaRPr lang="en-US" sz="1200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58443" y="2022747"/>
            <a:ext cx="3229796" cy="359630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pPr>
              <a:lnSpc>
                <a:spcPts val="1985"/>
              </a:lnSpc>
            </a:pPr>
            <a:r>
              <a:rPr lang="en-US" sz="1200" b="1" dirty="0">
                <a:solidFill>
                  <a:srgbClr val="475569"/>
                </a:solidFill>
                <a:latin typeface="Inter"/>
              </a:rPr>
              <a:t>Roll Number:</a:t>
            </a:r>
            <a:r>
              <a:rPr lang="en-US" sz="1200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200" dirty="0" smtClean="0">
                <a:solidFill>
                  <a:srgbClr val="475569"/>
                </a:solidFill>
                <a:latin typeface="Inter"/>
              </a:rPr>
              <a:t>25SCS1003004157</a:t>
            </a:r>
            <a:endParaRPr lang="en-US" sz="1200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48860" y="2273115"/>
            <a:ext cx="4128816" cy="359630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pPr>
              <a:lnSpc>
                <a:spcPts val="1985"/>
              </a:lnSpc>
            </a:pPr>
            <a:r>
              <a:rPr lang="en-US" sz="1200" b="1" dirty="0">
                <a:solidFill>
                  <a:srgbClr val="475569"/>
                </a:solidFill>
                <a:latin typeface="Inter"/>
              </a:rPr>
              <a:t>Degree:</a:t>
            </a:r>
            <a:r>
              <a:rPr lang="en-US" sz="1200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200" dirty="0" err="1">
                <a:solidFill>
                  <a:srgbClr val="475569"/>
                </a:solidFill>
                <a:latin typeface="Inter"/>
              </a:rPr>
              <a:t>B.Tech</a:t>
            </a:r>
            <a:r>
              <a:rPr lang="en-US" sz="1200" dirty="0">
                <a:solidFill>
                  <a:srgbClr val="475569"/>
                </a:solidFill>
                <a:latin typeface="Inter"/>
              </a:rPr>
              <a:t> (Computer Science &amp; Engineering</a:t>
            </a:r>
            <a:r>
              <a:rPr lang="en-US" sz="1500" dirty="0">
                <a:solidFill>
                  <a:srgbClr val="475569"/>
                </a:solidFill>
                <a:latin typeface="Inter"/>
              </a:rPr>
              <a:t>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8443" y="2534999"/>
            <a:ext cx="2211504" cy="352342"/>
          </a:xfrm>
          <a:prstGeom prst="rect">
            <a:avLst/>
          </a:prstGeom>
        </p:spPr>
        <p:txBody>
          <a:bodyPr wrap="none" lIns="94933" tIns="47467" rIns="94933" bIns="47467">
            <a:spAutoFit/>
          </a:bodyPr>
          <a:lstStyle/>
          <a:p>
            <a:pPr>
              <a:lnSpc>
                <a:spcPts val="1985"/>
              </a:lnSpc>
            </a:pPr>
            <a:r>
              <a:rPr lang="en-US" sz="1200" b="1" dirty="0">
                <a:solidFill>
                  <a:srgbClr val="475569"/>
                </a:solidFill>
                <a:latin typeface="Inter"/>
              </a:rPr>
              <a:t>Academic Batch:</a:t>
            </a:r>
            <a:r>
              <a:rPr lang="en-US" sz="1200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200" dirty="0" smtClean="0">
                <a:solidFill>
                  <a:srgbClr val="475569"/>
                </a:solidFill>
                <a:latin typeface="Inter"/>
              </a:rPr>
              <a:t>2025-2029</a:t>
            </a:r>
            <a:endParaRPr lang="en-US" sz="1200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48860" y="2789237"/>
            <a:ext cx="3808347" cy="359630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pPr>
              <a:lnSpc>
                <a:spcPts val="1985"/>
              </a:lnSpc>
            </a:pPr>
            <a:r>
              <a:rPr lang="en-US" sz="1200" b="1" dirty="0">
                <a:solidFill>
                  <a:srgbClr val="475569"/>
                </a:solidFill>
                <a:latin typeface="Inter"/>
              </a:rPr>
              <a:t>University:</a:t>
            </a:r>
            <a:r>
              <a:rPr lang="en-US" sz="1200" dirty="0">
                <a:solidFill>
                  <a:srgbClr val="475569"/>
                </a:solidFill>
                <a:latin typeface="Inter"/>
              </a:rPr>
              <a:t> IILM University, Greater Noida, U.P.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364" y="1363285"/>
            <a:ext cx="4592995" cy="2133652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357" y="1442669"/>
            <a:ext cx="213734" cy="224294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827751" y="1392102"/>
            <a:ext cx="1987083" cy="357471"/>
          </a:xfrm>
          <a:prstGeom prst="rect">
            <a:avLst/>
          </a:prstGeom>
        </p:spPr>
        <p:txBody>
          <a:bodyPr wrap="none" lIns="94933" tIns="47467" rIns="94933" bIns="47467">
            <a:spAutoFit/>
          </a:bodyPr>
          <a:lstStyle/>
          <a:p>
            <a:r>
              <a:rPr lang="en-US" sz="1700" b="1" dirty="0">
                <a:solidFill>
                  <a:srgbClr val="1E3A8A"/>
                </a:solidFill>
                <a:latin typeface="Poppins"/>
              </a:rPr>
              <a:t>Internship Profile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5480" y="1708547"/>
            <a:ext cx="4663282" cy="359630"/>
          </a:xfrm>
          <a:prstGeom prst="rect">
            <a:avLst/>
          </a:prstGeom>
        </p:spPr>
        <p:txBody>
          <a:bodyPr lIns="94933" tIns="47467" rIns="94933" bIns="47467">
            <a:spAutoFit/>
          </a:bodyPr>
          <a:lstStyle/>
          <a:p>
            <a:pPr>
              <a:lnSpc>
                <a:spcPts val="1985"/>
              </a:lnSpc>
            </a:pPr>
            <a:r>
              <a:rPr lang="en-US" sz="1200" b="1" dirty="0">
                <a:solidFill>
                  <a:srgbClr val="475569"/>
                </a:solidFill>
                <a:latin typeface="Inter"/>
              </a:rPr>
              <a:t>Program Name:</a:t>
            </a:r>
            <a:r>
              <a:rPr lang="en-US" sz="1200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200" dirty="0" err="1" smtClean="0">
                <a:solidFill>
                  <a:srgbClr val="475569"/>
                </a:solidFill>
                <a:latin typeface="Inter"/>
              </a:rPr>
              <a:t>Thiranex</a:t>
            </a:r>
            <a:r>
              <a:rPr lang="en-US" sz="1200" dirty="0" smtClean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200" dirty="0">
                <a:solidFill>
                  <a:srgbClr val="475569"/>
                </a:solidFill>
                <a:latin typeface="Inter"/>
              </a:rPr>
              <a:t>Internship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5480" y="1937911"/>
            <a:ext cx="3874271" cy="359630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pPr>
              <a:lnSpc>
                <a:spcPts val="1985"/>
              </a:lnSpc>
            </a:pPr>
            <a:r>
              <a:rPr lang="en-US" sz="1200" b="1" dirty="0">
                <a:solidFill>
                  <a:srgbClr val="475569"/>
                </a:solidFill>
                <a:latin typeface="Inter"/>
              </a:rPr>
              <a:t>Internship Domain:</a:t>
            </a:r>
            <a:r>
              <a:rPr lang="en-US" sz="1200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200" dirty="0" smtClean="0">
                <a:solidFill>
                  <a:srgbClr val="475569"/>
                </a:solidFill>
                <a:latin typeface="Inter"/>
              </a:rPr>
              <a:t>C++ </a:t>
            </a:r>
            <a:r>
              <a:rPr lang="en-US" sz="1200" dirty="0">
                <a:solidFill>
                  <a:srgbClr val="475569"/>
                </a:solidFill>
                <a:latin typeface="Inter"/>
              </a:rPr>
              <a:t>Programming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5480" y="2199606"/>
            <a:ext cx="4663282" cy="352342"/>
          </a:xfrm>
          <a:prstGeom prst="rect">
            <a:avLst/>
          </a:prstGeom>
        </p:spPr>
        <p:txBody>
          <a:bodyPr lIns="94933" tIns="47467" rIns="94933" bIns="47467">
            <a:spAutoFit/>
          </a:bodyPr>
          <a:lstStyle/>
          <a:p>
            <a:pPr>
              <a:lnSpc>
                <a:spcPts val="1985"/>
              </a:lnSpc>
            </a:pPr>
            <a:r>
              <a:rPr lang="en-US" sz="1200" b="1" dirty="0">
                <a:solidFill>
                  <a:srgbClr val="475569"/>
                </a:solidFill>
                <a:latin typeface="Inter"/>
              </a:rPr>
              <a:t>Duration:</a:t>
            </a:r>
            <a:r>
              <a:rPr lang="en-US" sz="1200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200" dirty="0" smtClean="0">
                <a:solidFill>
                  <a:srgbClr val="475569"/>
                </a:solidFill>
                <a:latin typeface="Inter"/>
              </a:rPr>
              <a:t>4.WEEKS (01</a:t>
            </a:r>
            <a:r>
              <a:rPr lang="en-US" sz="1200" baseline="30000" dirty="0" smtClean="0">
                <a:solidFill>
                  <a:srgbClr val="475569"/>
                </a:solidFill>
                <a:latin typeface="Inter"/>
              </a:rPr>
              <a:t>th</a:t>
            </a:r>
            <a:r>
              <a:rPr lang="en-US" sz="1200" dirty="0" smtClean="0">
                <a:solidFill>
                  <a:srgbClr val="475569"/>
                </a:solidFill>
                <a:latin typeface="Inter"/>
              </a:rPr>
              <a:t> AUG </a:t>
            </a:r>
            <a:r>
              <a:rPr lang="en-US" sz="1200" dirty="0">
                <a:solidFill>
                  <a:srgbClr val="475569"/>
                </a:solidFill>
                <a:latin typeface="Inter"/>
              </a:rPr>
              <a:t>2026 </a:t>
            </a:r>
            <a:r>
              <a:rPr lang="en-US" sz="1200" dirty="0" smtClean="0">
                <a:solidFill>
                  <a:srgbClr val="475569"/>
                </a:solidFill>
                <a:latin typeface="Inter"/>
              </a:rPr>
              <a:t>– 02</a:t>
            </a:r>
            <a:r>
              <a:rPr lang="en-US" sz="1200" baseline="30000" dirty="0" smtClean="0">
                <a:solidFill>
                  <a:srgbClr val="475569"/>
                </a:solidFill>
                <a:latin typeface="Inter"/>
              </a:rPr>
              <a:t>th</a:t>
            </a:r>
            <a:r>
              <a:rPr lang="en-US" sz="1200" dirty="0" smtClean="0">
                <a:solidFill>
                  <a:srgbClr val="475569"/>
                </a:solidFill>
                <a:latin typeface="Inter"/>
              </a:rPr>
              <a:t> SEP </a:t>
            </a:r>
            <a:r>
              <a:rPr lang="en-US" sz="1200" dirty="0">
                <a:solidFill>
                  <a:srgbClr val="475569"/>
                </a:solidFill>
                <a:latin typeface="Inter"/>
              </a:rPr>
              <a:t>2026)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77473" y="2452308"/>
            <a:ext cx="2471640" cy="352342"/>
          </a:xfrm>
          <a:prstGeom prst="rect">
            <a:avLst/>
          </a:prstGeom>
        </p:spPr>
        <p:txBody>
          <a:bodyPr wrap="none" lIns="94933" tIns="47467" rIns="94933" bIns="47467">
            <a:spAutoFit/>
          </a:bodyPr>
          <a:lstStyle/>
          <a:p>
            <a:pPr>
              <a:lnSpc>
                <a:spcPts val="1985"/>
              </a:lnSpc>
            </a:pPr>
            <a:r>
              <a:rPr lang="en-US" sz="1100" b="1" dirty="0">
                <a:solidFill>
                  <a:srgbClr val="475569"/>
                </a:solidFill>
                <a:latin typeface="Inter"/>
              </a:rPr>
              <a:t>STUDENT ID</a:t>
            </a:r>
            <a:r>
              <a:rPr lang="en-US" sz="1200" b="1" dirty="0">
                <a:solidFill>
                  <a:srgbClr val="475569"/>
                </a:solidFill>
                <a:latin typeface="Inter"/>
              </a:rPr>
              <a:t>:</a:t>
            </a:r>
            <a:r>
              <a:rPr lang="en-US" sz="1200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200" dirty="0" smtClean="0">
                <a:solidFill>
                  <a:srgbClr val="475569"/>
                </a:solidFill>
                <a:latin typeface="Inter"/>
              </a:rPr>
              <a:t>THX-AUG0326-424</a:t>
            </a:r>
            <a:endParaRPr lang="en-US" sz="1200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77473" y="2729186"/>
            <a:ext cx="2234523" cy="352342"/>
          </a:xfrm>
          <a:prstGeom prst="rect">
            <a:avLst/>
          </a:prstGeom>
        </p:spPr>
        <p:txBody>
          <a:bodyPr wrap="none" lIns="94933" tIns="47467" rIns="94933" bIns="47467">
            <a:spAutoFit/>
          </a:bodyPr>
          <a:lstStyle/>
          <a:p>
            <a:pPr>
              <a:lnSpc>
                <a:spcPts val="1985"/>
              </a:lnSpc>
            </a:pPr>
            <a:r>
              <a:rPr lang="en-US" sz="1500" b="1" dirty="0">
                <a:solidFill>
                  <a:srgbClr val="475569"/>
                </a:solidFill>
                <a:latin typeface="Inter"/>
              </a:rPr>
              <a:t>Issue Date:</a:t>
            </a:r>
            <a:r>
              <a:rPr lang="en-US" sz="1500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500" dirty="0" smtClean="0">
                <a:solidFill>
                  <a:srgbClr val="475569"/>
                </a:solidFill>
                <a:latin typeface="Inter"/>
              </a:rPr>
              <a:t>01</a:t>
            </a:r>
            <a:r>
              <a:rPr lang="en-US" sz="1500" baseline="30000" dirty="0" smtClean="0">
                <a:solidFill>
                  <a:srgbClr val="475569"/>
                </a:solidFill>
                <a:latin typeface="Inter"/>
              </a:rPr>
              <a:t>th</a:t>
            </a:r>
            <a:r>
              <a:rPr lang="en-US" sz="1500" dirty="0" smtClean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1500" dirty="0">
                <a:solidFill>
                  <a:srgbClr val="475569"/>
                </a:solidFill>
                <a:latin typeface="Inter"/>
              </a:rPr>
              <a:t>August</a:t>
            </a:r>
          </a:p>
        </p:txBody>
      </p:sp>
    </p:spTree>
    <p:extLst>
      <p:ext uri="{BB962C8B-B14F-4D97-AF65-F5344CB8AC3E}">
        <p14:creationId xmlns:p14="http://schemas.microsoft.com/office/powerpoint/2010/main" val="542321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7831"/>
            <a:ext cx="3886068" cy="395319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635" y="27830"/>
            <a:ext cx="5820467" cy="560035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r>
              <a:rPr lang="en-US" sz="2900" b="1" dirty="0"/>
              <a:t>Organization Profile: </a:t>
            </a:r>
            <a:r>
              <a:rPr lang="en-US" sz="2900" b="1" dirty="0" err="1"/>
              <a:t>CodeAlpha</a:t>
            </a:r>
            <a:endParaRPr lang="en-US" sz="2900" b="1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7721" y="587865"/>
            <a:ext cx="9248842" cy="80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rol 4"/>
          <p:cNvSpPr>
            <a:spLocks noChangeArrowheads="1" noChangeShapeType="1"/>
          </p:cNvSpPr>
          <p:nvPr/>
        </p:nvSpPr>
        <p:spPr bwMode="auto">
          <a:xfrm>
            <a:off x="0" y="0"/>
            <a:ext cx="932656" cy="978739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933" tIns="47467" rIns="94933" bIns="47467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3177" y="678474"/>
            <a:ext cx="9283386" cy="988298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r>
              <a:rPr lang="en-US" b="1" dirty="0" smtClean="0"/>
              <a:t>THIRANEX </a:t>
            </a:r>
            <a:r>
              <a:rPr lang="en-US" dirty="0" smtClean="0"/>
              <a:t>is a technology and software development organization committed to empowering students and aspiring professionals by providing practical learning experiences through internships and real-world project</a:t>
            </a:r>
            <a:endParaRPr lang="en-US" dirty="0"/>
          </a:p>
        </p:txBody>
      </p:sp>
      <p:sp>
        <p:nvSpPr>
          <p:cNvPr id="14" name="Control 6"/>
          <p:cNvSpPr>
            <a:spLocks noChangeArrowheads="1" noChangeShapeType="1"/>
          </p:cNvSpPr>
          <p:nvPr/>
        </p:nvSpPr>
        <p:spPr bwMode="auto">
          <a:xfrm>
            <a:off x="155443" y="163123"/>
            <a:ext cx="932656" cy="978739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933" tIns="47467" rIns="94933" bIns="47467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7272" y="1666771"/>
            <a:ext cx="9153849" cy="988298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r>
              <a:rPr lang="en-US" b="1" dirty="0" smtClean="0"/>
              <a:t>Industry-Oriented Internship Programs</a:t>
            </a:r>
          </a:p>
          <a:p>
            <a:r>
              <a:rPr lang="en-US" dirty="0" smtClean="0"/>
              <a:t>Offers internships in domains such as Web Development, App Development, Python, Data Science, Machine Learning, Java, and more.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0" y="2654855"/>
            <a:ext cx="9093399" cy="988298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r>
              <a:rPr lang="en-US" b="1" dirty="0" smtClean="0"/>
              <a:t>Practical Learning &amp; Projects</a:t>
            </a:r>
          </a:p>
          <a:p>
            <a:r>
              <a:rPr lang="en-US" dirty="0" smtClean="0"/>
              <a:t>Focuses on hands-on training, real-time projects, and problem-solving to enhance technical skills and industry readiness.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0" y="3658036"/>
            <a:ext cx="8618435" cy="1557800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r>
              <a:rPr lang="en-US" b="1" dirty="0" smtClean="0"/>
              <a:t>Mission</a:t>
            </a:r>
          </a:p>
          <a:p>
            <a:r>
              <a:rPr lang="en-US" dirty="0" smtClean="0"/>
              <a:t>To bridge the gap between academic knowledge and industry requirements by providing quality learning, mentorship, and exposure to modern technologies.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478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635" y="0"/>
            <a:ext cx="9240206" cy="395319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r>
              <a:rPr lang="en-US" b="1" i="0" u="none" dirty="0" smtClean="0">
                <a:solidFill>
                  <a:srgbClr val="0F172A"/>
                </a:solidFill>
                <a:latin typeface="Poppins"/>
              </a:rPr>
              <a:t>Problem Statement &amp; Industry Context</a:t>
            </a:r>
            <a:endParaRPr lang="en-US" b="1" i="0" u="none" dirty="0">
              <a:solidFill>
                <a:srgbClr val="0F172A"/>
              </a:solidFill>
              <a:latin typeface="Poppins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505512"/>
            <a:ext cx="93265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3" y="1321126"/>
            <a:ext cx="4274675" cy="2330058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737" y="1343102"/>
            <a:ext cx="4309219" cy="2348888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64" y="1402690"/>
            <a:ext cx="213734" cy="22429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44049" y="1355395"/>
            <a:ext cx="2891177" cy="388249"/>
          </a:xfrm>
          <a:prstGeom prst="rect">
            <a:avLst/>
          </a:prstGeom>
        </p:spPr>
        <p:txBody>
          <a:bodyPr wrap="none" lIns="94933" tIns="47467" rIns="94933" bIns="47467">
            <a:spAutoFit/>
          </a:bodyPr>
          <a:lstStyle/>
          <a:p>
            <a:r>
              <a:rPr lang="en-US" b="1" i="0" u="none" dirty="0" smtClean="0">
                <a:solidFill>
                  <a:srgbClr val="1E3A8A"/>
                </a:solidFill>
                <a:latin typeface="Poppins"/>
              </a:rPr>
              <a:t>The Industry Challenge</a:t>
            </a:r>
            <a:endParaRPr lang="en-US" b="1" i="0" u="none" dirty="0">
              <a:solidFill>
                <a:srgbClr val="1E3A8A"/>
              </a:solidFill>
              <a:latin typeface="Poppins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1003" y="1440907"/>
            <a:ext cx="213734" cy="224294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989280" y="1355395"/>
            <a:ext cx="2467984" cy="388249"/>
          </a:xfrm>
          <a:prstGeom prst="rect">
            <a:avLst/>
          </a:prstGeom>
        </p:spPr>
        <p:txBody>
          <a:bodyPr wrap="none" lIns="94933" tIns="47467" rIns="94933" bIns="47467">
            <a:spAutoFit/>
          </a:bodyPr>
          <a:lstStyle/>
          <a:p>
            <a:r>
              <a:rPr lang="en-US" b="1" i="0" u="none" dirty="0" smtClean="0">
                <a:solidFill>
                  <a:srgbClr val="1E3A8A"/>
                </a:solidFill>
                <a:latin typeface="Poppins"/>
              </a:rPr>
              <a:t>The Solution Scope</a:t>
            </a:r>
            <a:endParaRPr lang="en-US" b="1" i="0" u="none" dirty="0">
              <a:solidFill>
                <a:srgbClr val="1E3A8A"/>
              </a:solidFill>
              <a:latin typeface="Poppin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33164" y="1810498"/>
            <a:ext cx="4119232" cy="395319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endParaRPr lang="en-US" dirty="0" smtClean="0"/>
          </a:p>
        </p:txBody>
      </p:sp>
      <p:sp>
        <p:nvSpPr>
          <p:cNvPr id="18" name="Rectangle 17"/>
          <p:cNvSpPr/>
          <p:nvPr/>
        </p:nvSpPr>
        <p:spPr>
          <a:xfrm>
            <a:off x="184589" y="1750714"/>
            <a:ext cx="4090086" cy="881231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pPr>
              <a:lnSpc>
                <a:spcPts val="1993"/>
              </a:lnSpc>
            </a:pPr>
            <a:r>
              <a:rPr lang="en-US" sz="1000" dirty="0">
                <a:solidFill>
                  <a:srgbClr val="475569"/>
                </a:solidFill>
                <a:latin typeface="Inter"/>
              </a:rPr>
              <a:t>While academic curriculum extensively covers building Machine Learning and Deep Learning models, students often lack hands-on exposure to deploying models into real-world production systems</a:t>
            </a:r>
            <a:r>
              <a:rPr lang="en-US" b="0" i="0" u="none" dirty="0" smtClean="0">
                <a:solidFill>
                  <a:srgbClr val="475569"/>
                </a:solidFill>
                <a:latin typeface="Inter"/>
              </a:rPr>
              <a:t>.</a:t>
            </a:r>
            <a:endParaRPr lang="en-US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84588" y="2631945"/>
            <a:ext cx="4663282" cy="798874"/>
          </a:xfrm>
          <a:prstGeom prst="rect">
            <a:avLst/>
          </a:prstGeom>
        </p:spPr>
        <p:txBody>
          <a:bodyPr lIns="94933" tIns="47467" rIns="94933" bIns="47467">
            <a:spAutoFit/>
          </a:bodyPr>
          <a:lstStyle/>
          <a:p>
            <a:pPr>
              <a:lnSpc>
                <a:spcPts val="1751"/>
              </a:lnSpc>
            </a:pPr>
            <a:r>
              <a:rPr lang="en-US" sz="1100" dirty="0">
                <a:solidFill>
                  <a:srgbClr val="64748B"/>
                </a:solidFill>
                <a:latin typeface="Inter"/>
              </a:rPr>
              <a:t>A high-performing ML model in a </a:t>
            </a:r>
            <a:r>
              <a:rPr lang="en-US" sz="1100" dirty="0" err="1">
                <a:solidFill>
                  <a:srgbClr val="64748B"/>
                </a:solidFill>
                <a:latin typeface="Inter"/>
              </a:rPr>
              <a:t>Jupyter</a:t>
            </a:r>
            <a:r>
              <a:rPr lang="en-US" sz="1100" dirty="0">
                <a:solidFill>
                  <a:srgbClr val="64748B"/>
                </a:solidFill>
                <a:latin typeface="Inter"/>
              </a:rPr>
              <a:t> Notebook provides zero business value until it is exposed as a reliable, scalable</a:t>
            </a:r>
          </a:p>
          <a:p>
            <a:pPr>
              <a:lnSpc>
                <a:spcPts val="1751"/>
              </a:lnSpc>
            </a:pPr>
            <a:r>
              <a:rPr lang="en-US" sz="1100" dirty="0">
                <a:solidFill>
                  <a:srgbClr val="64748B"/>
                </a:solidFill>
                <a:latin typeface="Inter"/>
              </a:rPr>
              <a:t>,and secure API service.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281" y="1665202"/>
            <a:ext cx="4663282" cy="865302"/>
          </a:xfrm>
          <a:prstGeom prst="rect">
            <a:avLst/>
          </a:prstGeom>
        </p:spPr>
        <p:txBody>
          <a:bodyPr lIns="94933" tIns="47467" rIns="94933" bIns="47467">
            <a:spAutoFit/>
          </a:bodyPr>
          <a:lstStyle/>
          <a:p>
            <a:pPr>
              <a:lnSpc>
                <a:spcPts val="1993"/>
              </a:lnSpc>
            </a:pPr>
            <a:r>
              <a:rPr lang="en-US" sz="1100" dirty="0">
                <a:solidFill>
                  <a:srgbClr val="475569"/>
                </a:solidFill>
                <a:latin typeface="Inter"/>
              </a:rPr>
              <a:t>This internship addresses the complete end-to-end lifecycle of production AI: model serving, container packaging, cloud hosting, automated scaling, </a:t>
            </a:r>
            <a:r>
              <a:rPr lang="en-US" sz="1100" dirty="0" err="1">
                <a:solidFill>
                  <a:srgbClr val="475569"/>
                </a:solidFill>
                <a:latin typeface="Inter"/>
              </a:rPr>
              <a:t>observability</a:t>
            </a:r>
            <a:r>
              <a:rPr lang="en-US" sz="1100" dirty="0">
                <a:solidFill>
                  <a:srgbClr val="475569"/>
                </a:solidFill>
                <a:latin typeface="Inter"/>
              </a:rPr>
              <a:t>, and retraining triggers.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281" y="2631945"/>
            <a:ext cx="4663282" cy="798874"/>
          </a:xfrm>
          <a:prstGeom prst="rect">
            <a:avLst/>
          </a:prstGeom>
        </p:spPr>
        <p:txBody>
          <a:bodyPr lIns="94933" tIns="47467" rIns="94933" bIns="47467">
            <a:spAutoFit/>
          </a:bodyPr>
          <a:lstStyle/>
          <a:p>
            <a:pPr>
              <a:lnSpc>
                <a:spcPts val="1751"/>
              </a:lnSpc>
            </a:pPr>
            <a:r>
              <a:rPr lang="en-US" sz="1100" dirty="0">
                <a:solidFill>
                  <a:srgbClr val="64748B"/>
                </a:solidFill>
                <a:latin typeface="Inter"/>
              </a:rPr>
              <a:t>Mastering industry-grade tools (</a:t>
            </a:r>
            <a:r>
              <a:rPr lang="en-US" sz="1100" dirty="0" err="1">
                <a:solidFill>
                  <a:srgbClr val="64748B"/>
                </a:solidFill>
                <a:latin typeface="Inter"/>
              </a:rPr>
              <a:t>FastAPI</a:t>
            </a:r>
            <a:r>
              <a:rPr lang="en-US" sz="1100" dirty="0">
                <a:solidFill>
                  <a:srgbClr val="64748B"/>
                </a:solidFill>
                <a:latin typeface="Inter"/>
              </a:rPr>
              <a:t>, </a:t>
            </a:r>
            <a:r>
              <a:rPr lang="en-US" sz="1100" dirty="0" err="1">
                <a:solidFill>
                  <a:srgbClr val="64748B"/>
                </a:solidFill>
                <a:latin typeface="Inter"/>
              </a:rPr>
              <a:t>Docker</a:t>
            </a:r>
            <a:r>
              <a:rPr lang="en-US" sz="1100" dirty="0">
                <a:solidFill>
                  <a:srgbClr val="64748B"/>
                </a:solidFill>
                <a:latin typeface="Inter"/>
              </a:rPr>
              <a:t>, </a:t>
            </a:r>
            <a:r>
              <a:rPr lang="en-US" sz="1100" dirty="0" err="1">
                <a:solidFill>
                  <a:srgbClr val="64748B"/>
                </a:solidFill>
                <a:latin typeface="Inter"/>
              </a:rPr>
              <a:t>Kubernetes</a:t>
            </a:r>
            <a:r>
              <a:rPr lang="en-US" sz="1100" dirty="0">
                <a:solidFill>
                  <a:srgbClr val="64748B"/>
                </a:solidFill>
                <a:latin typeface="Inter"/>
              </a:rPr>
              <a:t>, </a:t>
            </a:r>
            <a:r>
              <a:rPr lang="en-US" sz="1100" dirty="0" err="1">
                <a:solidFill>
                  <a:srgbClr val="64748B"/>
                </a:solidFill>
                <a:latin typeface="Inter"/>
              </a:rPr>
              <a:t>LangChain</a:t>
            </a:r>
            <a:r>
              <a:rPr lang="en-US" sz="1100" dirty="0">
                <a:solidFill>
                  <a:srgbClr val="64748B"/>
                </a:solidFill>
                <a:latin typeface="Inter"/>
              </a:rPr>
              <a:t>, </a:t>
            </a:r>
            <a:r>
              <a:rPr lang="en-US" sz="1100" dirty="0" err="1">
                <a:solidFill>
                  <a:srgbClr val="64748B"/>
                </a:solidFill>
                <a:latin typeface="Inter"/>
              </a:rPr>
              <a:t>SageMaker</a:t>
            </a:r>
            <a:r>
              <a:rPr lang="en-US" sz="1100" dirty="0">
                <a:solidFill>
                  <a:srgbClr val="64748B"/>
                </a:solidFill>
                <a:latin typeface="Inter"/>
              </a:rPr>
              <a:t>) to transform research prototypes into enterprise AI solutions.</a:t>
            </a:r>
          </a:p>
        </p:txBody>
      </p:sp>
    </p:spTree>
    <p:extLst>
      <p:ext uri="{BB962C8B-B14F-4D97-AF65-F5344CB8AC3E}">
        <p14:creationId xmlns:p14="http://schemas.microsoft.com/office/powerpoint/2010/main" val="415132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5051888" cy="395319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r>
              <a:rPr lang="en-US" b="1" i="0" u="none" dirty="0" smtClean="0">
                <a:solidFill>
                  <a:srgbClr val="0F172A"/>
                </a:solidFill>
                <a:latin typeface="Poppins"/>
              </a:rPr>
              <a:t>Curriculum Timeline (Weeks 1 to 4)</a:t>
            </a:r>
            <a:endParaRPr lang="en-US" b="1" i="0" u="none" dirty="0">
              <a:solidFill>
                <a:srgbClr val="0F172A"/>
              </a:solidFill>
              <a:latin typeface="Poppins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0" y="505512"/>
            <a:ext cx="9326563" cy="815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91281" y="808037"/>
            <a:ext cx="899160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1. Student Management System</a:t>
            </a:r>
          </a:p>
          <a:p>
            <a:r>
              <a:rPr lang="en-US" sz="1400" b="1" dirty="0"/>
              <a:t>To develop a console-based Student Management System in C++ that efficiently manages student records using file handling and menu-driven operations.</a:t>
            </a:r>
          </a:p>
          <a:p>
            <a:r>
              <a:rPr lang="en-US" sz="1400" b="1" dirty="0"/>
              <a:t>A functional application that allows users to add, update, delete, and display student information with persistent data storage for reliable record management.</a:t>
            </a:r>
          </a:p>
          <a:p>
            <a:endParaRPr lang="en-US" sz="1400" b="1" dirty="0"/>
          </a:p>
          <a:p>
            <a:r>
              <a:rPr lang="en-US" sz="1400" b="1" dirty="0"/>
              <a:t>2. Bank Management Application</a:t>
            </a:r>
          </a:p>
          <a:p>
            <a:r>
              <a:rPr lang="en-US" sz="1400" b="1" dirty="0"/>
              <a:t>To design and implement a C++ based Bank Management Application that simulates core banking operations using object-oriented programming and file handling</a:t>
            </a:r>
            <a:r>
              <a:rPr lang="en-US" sz="1400" b="1" dirty="0" smtClean="0"/>
              <a:t>.</a:t>
            </a:r>
            <a:endParaRPr lang="en-US" sz="1400" b="1" dirty="0"/>
          </a:p>
          <a:p>
            <a:r>
              <a:rPr lang="en-US" sz="1400" b="1" dirty="0"/>
              <a:t>A secure and functional banking system capable of performing deposits, withdrawals, and balance inquiries while maintaining persistent customer records</a:t>
            </a:r>
            <a:r>
              <a:rPr lang="en-US" sz="1400" b="1" dirty="0" smtClean="0"/>
              <a:t>.</a:t>
            </a:r>
          </a:p>
          <a:p>
            <a:r>
              <a:rPr lang="en-US" sz="1400" b="1" dirty="0" smtClean="0"/>
              <a:t>           </a:t>
            </a:r>
            <a:endParaRPr lang="en-US" sz="1400" b="1" dirty="0"/>
          </a:p>
          <a:p>
            <a:r>
              <a:rPr lang="en-US" sz="1400" b="1" dirty="0"/>
              <a:t>3. Library Management System</a:t>
            </a:r>
          </a:p>
          <a:p>
            <a:r>
              <a:rPr lang="en-US" sz="1400" b="1" dirty="0"/>
              <a:t>To develop a Library Management System that efficiently manages books, members, and borrowing records using structured or object-oriented programming.</a:t>
            </a:r>
          </a:p>
          <a:p>
            <a:r>
              <a:rPr lang="en-US" sz="1400" b="1" dirty="0"/>
              <a:t>A functional application that enables book addition, issue and return processing, and search by title or author for streamlined library operations.</a:t>
            </a:r>
          </a:p>
          <a:p>
            <a:endParaRPr lang="en-US" sz="1400" b="1" dirty="0"/>
          </a:p>
          <a:p>
            <a:r>
              <a:rPr lang="en-US" sz="1400" b="1" dirty="0"/>
              <a:t>4. Mini Game Project (Tic </a:t>
            </a:r>
            <a:r>
              <a:rPr lang="en-US" sz="1400" b="1" dirty="0" err="1"/>
              <a:t>Tac</a:t>
            </a:r>
            <a:r>
              <a:rPr lang="en-US" sz="1400" b="1" dirty="0"/>
              <a:t> Toe / Snake Game)</a:t>
            </a:r>
          </a:p>
          <a:p>
            <a:r>
              <a:rPr lang="en-US" sz="1400" b="1" dirty="0"/>
              <a:t>To create a console-based mini game in C++ that demonstrates core programming concepts such as loops, arrays, and conditional logic</a:t>
            </a:r>
            <a:r>
              <a:rPr lang="en-US" sz="1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4111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253194"/>
              </p:ext>
            </p:extLst>
          </p:nvPr>
        </p:nvGraphicFramePr>
        <p:xfrm>
          <a:off x="17271" y="1745079"/>
          <a:ext cx="9326563" cy="38333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412"/>
                <a:gridCol w="6508151"/>
              </a:tblGrid>
              <a:tr h="502851"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rgbClr val="FFFFFF"/>
                          </a:solidFill>
                          <a:latin typeface="Inter SemiBold"/>
                        </a:rPr>
                        <a:t>Verification Metric</a:t>
                      </a:r>
                    </a:p>
                  </a:txBody>
                  <a:tcPr marL="64768" marR="64768" marT="27187" marB="271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rgbClr val="FFFFFF"/>
                          </a:solidFill>
                          <a:latin typeface="Inter SemiBold"/>
                        </a:rPr>
                        <a:t>Official Record / Credential Details</a:t>
                      </a:r>
                    </a:p>
                  </a:txBody>
                  <a:tcPr marL="64768" marR="64768" marT="27187" marB="271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07798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Internship Title</a:t>
                      </a:r>
                    </a:p>
                  </a:txBody>
                  <a:tcPr marL="64768" marR="64768" marT="27187" marB="271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u="none" baseline="0" dirty="0" smtClean="0">
                          <a:solidFill>
                            <a:srgbClr val="334155"/>
                          </a:solidFill>
                          <a:latin typeface="Inter"/>
                        </a:rPr>
                        <a:t>C++ Programming Virtual Internship</a:t>
                      </a:r>
                      <a:endParaRPr sz="120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4768" marR="64768" marT="27187" marB="271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7798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Issuing Organization</a:t>
                      </a:r>
                    </a:p>
                  </a:txBody>
                  <a:tcPr marL="64768" marR="64768" marT="27187" marB="271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u="none" dirty="0" smtClean="0">
                          <a:solidFill>
                            <a:srgbClr val="334155"/>
                          </a:solidFill>
                          <a:latin typeface="Inter"/>
                        </a:rPr>
                        <a:t>THIRANEX</a:t>
                      </a:r>
                      <a:endParaRPr sz="120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4768" marR="64768" marT="27187" marB="271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07798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Academic Patronage</a:t>
                      </a:r>
                    </a:p>
                  </a:txBody>
                  <a:tcPr marL="64768" marR="64768" marT="27187" marB="271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u="none" baseline="0" dirty="0" err="1" smtClean="0">
                          <a:solidFill>
                            <a:srgbClr val="334155"/>
                          </a:solidFill>
                          <a:latin typeface="Inter"/>
                        </a:rPr>
                        <a:t>Thiranex</a:t>
                      </a:r>
                      <a:r>
                        <a:rPr lang="en-US" sz="1200" b="0" i="0" u="none" baseline="0" dirty="0" smtClean="0">
                          <a:solidFill>
                            <a:srgbClr val="334155"/>
                          </a:solidFill>
                          <a:latin typeface="Inter"/>
                        </a:rPr>
                        <a:t> Virtual Internship Program</a:t>
                      </a:r>
                      <a:endParaRPr sz="120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4768" marR="64768" marT="27187" marB="271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507152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34155"/>
                          </a:solidFill>
                          <a:latin typeface="Inter"/>
                        </a:rPr>
                        <a:t>Certificate ID</a:t>
                      </a:r>
                    </a:p>
                  </a:txBody>
                  <a:tcPr marL="64768" marR="64768" marT="27187" marB="271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493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baseline="0" dirty="0" smtClean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lang="en-US" sz="1200" b="0" i="0" u="none" baseline="0" dirty="0" smtClean="0">
                          <a:solidFill>
                            <a:srgbClr val="475569"/>
                          </a:solidFill>
                          <a:latin typeface="Inter"/>
                        </a:rPr>
                        <a:t>THX-AUG0326-424</a:t>
                      </a:r>
                      <a:endParaRPr lang="en-US" sz="1200" dirty="0" smtClean="0">
                        <a:solidFill>
                          <a:srgbClr val="475569"/>
                        </a:solidFill>
                        <a:latin typeface="Inter"/>
                      </a:endParaRPr>
                    </a:p>
                    <a:p>
                      <a:pPr algn="l"/>
                      <a:endParaRPr sz="1200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4768" marR="64768" marT="27187" marB="2718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97704"/>
            <a:ext cx="7072644" cy="560035"/>
          </a:xfrm>
          <a:prstGeom prst="rect">
            <a:avLst/>
          </a:prstGeom>
        </p:spPr>
        <p:txBody>
          <a:bodyPr wrap="square" lIns="94933" tIns="47467" rIns="94933" bIns="47467">
            <a:spAutoFit/>
          </a:bodyPr>
          <a:lstStyle/>
          <a:p>
            <a:r>
              <a:rPr lang="en-US" sz="2900" b="1" dirty="0">
                <a:solidFill>
                  <a:srgbClr val="0F172A"/>
                </a:solidFill>
                <a:latin typeface="Poppins"/>
              </a:rPr>
              <a:t>Certification &amp; Official Verification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0" y="587074"/>
            <a:ext cx="9326563" cy="706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954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21771" y="0"/>
            <a:ext cx="8393907" cy="929746"/>
          </a:xfrm>
        </p:spPr>
        <p:txBody>
          <a:bodyPr>
            <a:normAutofit/>
          </a:bodyPr>
          <a:lstStyle/>
          <a:p>
            <a:r>
              <a:rPr lang="en-IN" sz="3300" b="1" dirty="0">
                <a:solidFill>
                  <a:srgbClr val="0F172A"/>
                </a:solidFill>
                <a:latin typeface="Poppins"/>
              </a:rPr>
              <a:t>Certification &amp; Official Verification</a:t>
            </a:r>
            <a:endParaRPr lang="en-US" sz="3300" dirty="0"/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0" y="831758"/>
            <a:ext cx="9326563" cy="815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081" y="1189037"/>
            <a:ext cx="5410200" cy="381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048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700" y="3424237"/>
            <a:ext cx="7086600" cy="1771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50008" y="1570037"/>
            <a:ext cx="3970496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100" b="1" i="0" u="none" dirty="0">
                <a:solidFill>
                  <a:srgbClr val="0F172A"/>
                </a:solidFill>
                <a:latin typeface="Poppins"/>
              </a:rPr>
              <a:t>Thank You!</a:t>
            </a:r>
          </a:p>
        </p:txBody>
      </p:sp>
      <p:sp>
        <p:nvSpPr>
          <p:cNvPr id="7" name="Rectangle 6"/>
          <p:cNvSpPr/>
          <p:nvPr/>
        </p:nvSpPr>
        <p:spPr>
          <a:xfrm>
            <a:off x="5248275" y="4119562"/>
            <a:ext cx="9525" cy="381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38475" y="3719512"/>
            <a:ext cx="1828800" cy="320601"/>
          </a:xfrm>
          <a:prstGeom prst="rect">
            <a:avLst/>
          </a:prstGeom>
          <a:noFill/>
        </p:spPr>
        <p:txBody>
          <a:bodyPr wrap="square" lIns="295275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200" dirty="0" err="1" smtClean="0">
                <a:solidFill>
                  <a:srgbClr val="1E293B"/>
                </a:solidFill>
                <a:latin typeface="Inter SemiBold"/>
              </a:rPr>
              <a:t>Yuganshu</a:t>
            </a:r>
            <a:r>
              <a:rPr lang="en-US" sz="1200" dirty="0" smtClean="0">
                <a:solidFill>
                  <a:srgbClr val="1E293B"/>
                </a:solidFill>
                <a:latin typeface="Inter SemiBold"/>
              </a:rPr>
              <a:t> Kumar </a:t>
            </a:r>
            <a:r>
              <a:rPr lang="en-US" sz="1200" dirty="0" err="1" smtClean="0">
                <a:solidFill>
                  <a:srgbClr val="1E293B"/>
                </a:solidFill>
                <a:latin typeface="Inter SemiBold"/>
              </a:rPr>
              <a:t>Jha</a:t>
            </a:r>
            <a:endParaRPr sz="1200" b="0" i="0" u="none" dirty="0">
              <a:solidFill>
                <a:srgbClr val="1E293B"/>
              </a:solidFill>
              <a:latin typeface="Inter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38475" y="4367212"/>
            <a:ext cx="1828800" cy="205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64748B"/>
                </a:solidFill>
                <a:latin typeface="Inter"/>
              </a:rPr>
              <a:t>Roll No: </a:t>
            </a:r>
            <a:r>
              <a:rPr sz="1050" b="0" i="0" u="none" dirty="0" smtClean="0">
                <a:solidFill>
                  <a:srgbClr val="64748B"/>
                </a:solidFill>
                <a:latin typeface="Inter"/>
              </a:rPr>
              <a:t>25SCS100300</a:t>
            </a:r>
            <a:r>
              <a:rPr lang="en-US" sz="1050" dirty="0" smtClean="0">
                <a:solidFill>
                  <a:srgbClr val="64748B"/>
                </a:solidFill>
                <a:latin typeface="Inter"/>
              </a:rPr>
              <a:t>4157</a:t>
            </a:r>
            <a:endParaRPr sz="1050" b="0" i="0" u="none" dirty="0">
              <a:solidFill>
                <a:srgbClr val="64748B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38800" y="3719512"/>
            <a:ext cx="3514725" cy="314325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1E293B"/>
                </a:solidFill>
                <a:latin typeface="Inter SemiBold"/>
              </a:rPr>
              <a:t>School of Computer Science &amp;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38800" y="4367212"/>
            <a:ext cx="35147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IILM University, Greater Noida, U.P.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8475" y="3748087"/>
            <a:ext cx="200025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800" y="3748087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055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273</TotalTime>
  <Words>553</Words>
  <Application>Microsoft Office PowerPoint</Application>
  <PresentationFormat>Custom</PresentationFormat>
  <Paragraphs>62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Certification &amp; Official Verification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deel</dc:creator>
  <cp:lastModifiedBy>deel</cp:lastModifiedBy>
  <cp:revision>21</cp:revision>
  <dcterms:created xsi:type="dcterms:W3CDTF">2026-08-28T04:38:52Z</dcterms:created>
  <dcterms:modified xsi:type="dcterms:W3CDTF">2026-09-02T14:32:09Z</dcterms:modified>
</cp:coreProperties>
</file>